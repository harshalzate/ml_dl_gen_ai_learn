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6" r:id="rId9"/>
    <p:sldId id="261" r:id="rId10"/>
    <p:sldId id="262" r:id="rId11"/>
    <p:sldId id="263" r:id="rId12"/>
    <p:sldId id="264" r:id="rId13"/>
    <p:sldId id="265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500A0-744D-3BA5-8650-94FB30930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D4D99E-9E3F-9BE0-3A0C-A4C72B4451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B00F2-F66B-8FFB-3A1F-274725CE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D59E9A-466B-BFA4-0764-F9242CD8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556EE-54A5-D06D-6C3C-CE4EEB82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954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D9BC8-AA0D-28A7-5E46-EAAB5FE49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1018C-7055-84C3-0D7B-B2D13B538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15587-5B8B-A09A-1750-72199198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D4C3-19B4-A0D7-D8C5-1BA7123E9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6C86B-62FA-A8BD-F481-E4E8E7B92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461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7E439-5980-CFF2-2AD9-5FD4C022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35E6C-769B-B0C4-03C7-0FDF1EEBF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E7EEB-CA3C-0986-28C8-73E051B93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3A663-D5B4-587A-4BA5-F768417E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5E693-147F-3F59-CAF2-CE2A5442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17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C44EF-837D-D08F-331C-26093C98E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69FF1-3B36-50C4-67CD-667A111B55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DF11E8-0349-A6E6-D961-FF2D23EBE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EB4F3-DCD7-2B02-181B-5C129E4B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FF00F-080A-F304-05B9-63B03C664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2D7DD-1555-FFCC-FED1-0B755EEA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335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7726-0F67-1EA5-24A7-C4E2AE40E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2D7DB-C600-90AF-CC9A-99C3C1314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A6B64-D638-BD35-4AB3-7EEB035A1D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2814A-07C0-C0AF-FF6A-F69CB8435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1C004-6F8D-4707-5C4D-DC5F166113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FC6111-C1BA-EC22-2E74-FB271355C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5C5552-746C-C849-4B52-157E97BB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7F13A4-1CAD-DBA5-8F1A-AD1EB1CDC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47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8FDF0-F580-1534-D6F5-A977F061A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902FE3-0BD7-725D-92C1-CB27A75E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020D8-869D-006D-FD7A-60E027D75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0E55D1-C501-1B77-CEC1-C0E493C18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616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42B7A8-4776-5898-A9A2-6499E536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6DF09B-01C3-2246-0A82-F33D18951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53380-16CC-4FA0-2BED-39EB7D00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5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101E-AABC-A04A-5D0E-3174E9B56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5E52C-CB8B-478F-E2A4-7F940C37F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56DA77-8B66-DE60-34C9-93DC5648D1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FCB93-D072-3699-BC72-69EE71C76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87F82-130F-09C9-19A0-71D16A3B9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F3369-612B-D1E0-9B40-82F79004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85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F144-99AE-312F-3FE8-8EB6C6EE1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77047E-047B-5128-DE8D-E6323A1F5A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AE35F3-BE6E-028D-2FE0-17C37AE05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628C0-F790-4CDA-55E7-8E09D556A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FBF9B4-D3C3-9700-0D68-68BF89DC1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249DC2-6512-8AE4-CDD5-F4B791869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97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3DBBA-97F3-381E-BAE6-0D0FC4C50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8EA01-3C12-6CC3-E01A-053C18D01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47AC8-B10D-1639-64F4-3876D6CD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C8DD1-2035-8267-0807-664E7AF27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A9B2C-C396-1B3E-909C-297480620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74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9B786F-37D2-F15C-285F-920CB00888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99CE4F-3A7D-C92A-6B41-059F9C56F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D2979-DC15-199E-A5DB-0DF9F8430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C3B32-2662-9465-B62E-16C174E0D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0E5ED-275D-2CB4-FF62-207BB057F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88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05D009-A8BD-8E9B-73F4-95284A4B0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6687E-6C80-A551-F214-9844AD83F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B1A3C-D5A2-3AC9-8C4F-79D2BC077C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E384A-572C-4069-8267-D5AAE53E3B31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307C4-AC1B-3EE5-8E07-EA2A6165A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F73DAA-3723-0D63-CE23-7752A317C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0AAB5-7920-4F3B-8F11-CA3EF58E32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131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358EA-151B-BF98-21AC-5BA74B5B9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Intelligent HR BOT powered by Retrieval-Augmented Generation (RAG)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4452A1-C504-D17A-49EA-83E10EEF97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Transforming Employee Experience &amp; HR Efficiency</a:t>
            </a:r>
          </a:p>
        </p:txBody>
      </p:sp>
    </p:spTree>
    <p:extLst>
      <p:ext uri="{BB962C8B-B14F-4D97-AF65-F5344CB8AC3E}">
        <p14:creationId xmlns:p14="http://schemas.microsoft.com/office/powerpoint/2010/main" val="3436898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15376-2CB9-EC60-D726-01C4BB9DE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Problem Statement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C23C994-7EE5-A378-B52B-E4698C69FD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85686"/>
            <a:ext cx="8590813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HR teams spend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hours answering repetitive employee queries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Recruiting and talent management are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slow and inefficient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Policy documents, onboarding forms, and manuals are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 to navigate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Lack of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data-driven insights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HR decision-making.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Frustrated employee icon or workflow with bottlenecks</a:t>
            </a:r>
          </a:p>
        </p:txBody>
      </p:sp>
    </p:spTree>
    <p:extLst>
      <p:ext uri="{BB962C8B-B14F-4D97-AF65-F5344CB8AC3E}">
        <p14:creationId xmlns:p14="http://schemas.microsoft.com/office/powerpoint/2010/main" val="4006717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E7EE6-90E0-39B6-084D-B3170D30E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A8F9-1344-294D-53C8-8FE133498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HR RAG Bot – Your AI-Powered HR Assistant</a:t>
            </a:r>
            <a:endParaRPr lang="en-US" dirty="0"/>
          </a:p>
          <a:p>
            <a:r>
              <a:rPr lang="en-US" dirty="0"/>
              <a:t>Provides </a:t>
            </a:r>
            <a:r>
              <a:rPr lang="en-US" b="1" dirty="0"/>
              <a:t>accurate, context-backed responses</a:t>
            </a:r>
            <a:r>
              <a:rPr lang="en-US" dirty="0"/>
              <a:t> to employees &amp; candidates.</a:t>
            </a:r>
          </a:p>
          <a:p>
            <a:r>
              <a:rPr lang="en-US" dirty="0"/>
              <a:t>Supports </a:t>
            </a:r>
            <a:r>
              <a:rPr lang="en-US" b="1" dirty="0"/>
              <a:t>end-to-end HR processes</a:t>
            </a:r>
            <a:r>
              <a:rPr lang="en-US" dirty="0"/>
              <a:t>: onboarding, recruitment, performance, rewards, offboarding.</a:t>
            </a:r>
          </a:p>
          <a:p>
            <a:r>
              <a:rPr lang="en-US" dirty="0"/>
              <a:t>Delivers </a:t>
            </a:r>
            <a:r>
              <a:rPr lang="en-US" b="1" dirty="0"/>
              <a:t>HR analytics and actionable insights</a:t>
            </a:r>
            <a:r>
              <a:rPr lang="en-US" dirty="0"/>
              <a:t>.</a:t>
            </a:r>
            <a:br>
              <a:rPr lang="en-US" dirty="0"/>
            </a:br>
            <a:r>
              <a:rPr lang="en-US" i="1" dirty="0"/>
              <a:t>Visual:</a:t>
            </a:r>
            <a:r>
              <a:rPr lang="en-US" dirty="0"/>
              <a:t> Diagram of bot connecting employees, candidates, and HR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686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A57D5-CB6D-4B1D-870E-16DF04FDA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D7C7E-3D0E-B5F4-15FF-429C1B736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Two Classes of Benefits:</a:t>
            </a:r>
            <a:endParaRPr lang="en-US" dirty="0"/>
          </a:p>
          <a:p>
            <a:r>
              <a:rPr lang="en-US" b="1" dirty="0"/>
              <a:t>HR Benefits:</a:t>
            </a:r>
            <a:r>
              <a:rPr lang="en-US" dirty="0"/>
              <a:t> Helps HR team work smarter, automate tasks, and gain insights.</a:t>
            </a:r>
          </a:p>
          <a:p>
            <a:r>
              <a:rPr lang="en-US" b="1" dirty="0"/>
              <a:t>Employee &amp; Candidate Benefits:</a:t>
            </a:r>
            <a:r>
              <a:rPr lang="en-US" dirty="0"/>
              <a:t> Improves engagement, experience, and access to information.</a:t>
            </a:r>
            <a:br>
              <a:rPr lang="en-US" dirty="0"/>
            </a:br>
            <a:r>
              <a:rPr lang="en-US" i="1" dirty="0"/>
              <a:t>Visual:</a:t>
            </a:r>
            <a:r>
              <a:rPr lang="en-US" dirty="0"/>
              <a:t> Two-column table or icons representing HR vs Employee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03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0CB70-3159-18CA-D18D-1ECDD6BF9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HR Beneficial Features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191D30-4C24-7717-94B5-285239A0AD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8456" y="1398141"/>
            <a:ext cx="1201168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HR Analytics &amp; Reports: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Track queries, trends, sentiment, generate dashboards.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Smart Recruitment Module: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Resume search, internal talent matching, candidate ranking, telephonic bot interview.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&amp; Rewards Assistant: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Summarizes metrics, tracks recognition programs.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Policy Management Assistance: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Track compliance, manage updates, detect conflicts.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End-to-End Process Automation: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Onboarding/offboarding checklists, reminders, approvals.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Dashboard / workflow icons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E5B29-4DF9-98E2-EFD8-DB1D8E7C7096}"/>
              </a:ext>
            </a:extLst>
          </p:cNvPr>
          <p:cNvSpPr txBox="1"/>
          <p:nvPr/>
        </p:nvSpPr>
        <p:spPr>
          <a:xfrm>
            <a:off x="693296" y="3705534"/>
            <a:ext cx="88404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HR phone smart policy guidance.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Smart recruitment like smart resume selection module and HR phone BOT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HR Analytics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473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42792-73DD-C449-BE14-40EF9E95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HR phone smart policy guidance. 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B9930-9DE9-31E6-94AA-940D79E6A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440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CCFE-1F2E-5137-784D-099E4B88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dirty="0"/>
              <a:t>Smart recruitment like smart resume selection module and HR phone BOT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8AF83-6F97-51DE-FDC8-DF12D5D7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683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96F26-5E9B-143E-761B-E712B0D58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2400" b="1" dirty="0"/>
              <a:t>HR analytics module, 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A5E26-79F4-79C7-DF25-640BDAC2F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lvl="0"/>
            <a:r>
              <a:rPr lang="en-US" sz="2000" dirty="0"/>
              <a:t>Resolution Rate</a:t>
            </a:r>
          </a:p>
          <a:p>
            <a:pPr lvl="0"/>
            <a:r>
              <a:rPr lang="en-US" sz="2000" dirty="0"/>
              <a:t>Average Response Time</a:t>
            </a:r>
          </a:p>
          <a:p>
            <a:pPr lvl="0"/>
            <a:r>
              <a:rPr lang="en-US" sz="2000" b="1" dirty="0"/>
              <a:t>Sentiment Score</a:t>
            </a:r>
          </a:p>
          <a:p>
            <a:pPr lvl="0"/>
            <a:r>
              <a:rPr lang="en-US" sz="2000" b="1" dirty="0"/>
              <a:t>Escalation Rate</a:t>
            </a:r>
          </a:p>
          <a:p>
            <a:pPr lvl="0"/>
            <a:r>
              <a:rPr lang="en-US" sz="2000" b="1" dirty="0"/>
              <a:t>Employee Satisfaction Score.</a:t>
            </a:r>
          </a:p>
          <a:p>
            <a:pPr lvl="0"/>
            <a:r>
              <a:rPr lang="en-US" sz="2000" dirty="0"/>
              <a:t>Top 5 Intent Categories/policy searches. </a:t>
            </a:r>
          </a:p>
          <a:p>
            <a:pPr lvl="0"/>
            <a:r>
              <a:rPr lang="en-US" sz="2000" dirty="0"/>
              <a:t>Confusion/Failure Rate.</a:t>
            </a:r>
          </a:p>
          <a:p>
            <a:pPr lvl="0"/>
            <a:r>
              <a:rPr lang="en-US" sz="2000" b="1" dirty="0"/>
              <a:t>Attrition prediction model based of combination of ML model of Payroll data/HR data and secondly the conversations we have had through bot. 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612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066FB-35F2-4B35-78A5-D782BC45D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Employee &amp; Candidate Beneficial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732CA-F345-DEDA-89D9-2C7EEA7C0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Conversational &amp; Multimodal Interaction:</a:t>
            </a:r>
            <a:r>
              <a:rPr lang="en-US" dirty="0"/>
              <a:t> Chat, voice, document uploads.</a:t>
            </a:r>
          </a:p>
          <a:p>
            <a:r>
              <a:rPr lang="en-US" b="1" dirty="0"/>
              <a:t>Onboarding &amp; Offboarding Support:</a:t>
            </a:r>
            <a:r>
              <a:rPr lang="en-US" dirty="0"/>
              <a:t> Step-by-step guidance, culture tips, exit surveys.</a:t>
            </a:r>
          </a:p>
          <a:p>
            <a:r>
              <a:rPr lang="en-US" b="1" dirty="0"/>
              <a:t>Policy Guidance:</a:t>
            </a:r>
            <a:r>
              <a:rPr lang="en-US" dirty="0"/>
              <a:t> Plain-language answers, quick clarification, alerts for updates.</a:t>
            </a:r>
          </a:p>
          <a:p>
            <a:r>
              <a:rPr lang="en-US" b="1" dirty="0"/>
              <a:t>Career &amp; Performance Assistance:</a:t>
            </a:r>
            <a:r>
              <a:rPr lang="en-US" dirty="0"/>
              <a:t> Personalized recommendations, rewards visibility.</a:t>
            </a:r>
          </a:p>
          <a:p>
            <a:r>
              <a:rPr lang="en-US" b="1" dirty="0"/>
              <a:t>Recruitment Engagement:</a:t>
            </a:r>
            <a:r>
              <a:rPr lang="en-US" dirty="0"/>
              <a:t> FAQ support, interview scheduling, application status updates.</a:t>
            </a:r>
            <a:br>
              <a:rPr lang="en-US" dirty="0"/>
            </a:br>
            <a:r>
              <a:rPr lang="en-US" i="1" dirty="0"/>
              <a:t>Visual:</a:t>
            </a:r>
            <a:r>
              <a:rPr lang="en-US" dirty="0"/>
              <a:t> Chatbot + happy employee illustration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760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95EE-F47E-6122-596D-453429AC2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Policy Guidance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A8C04-7FF1-6D3B-1FAF-867D7563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Employee: “How many casual leaves can I take this month?”</a:t>
            </a:r>
          </a:p>
          <a:p>
            <a:r>
              <a:rPr lang="en-US" dirty="0"/>
              <a:t>Bot: “You are entitled to 12 casual leaves per year, as per Section 3.2 of HR Policy Handbook (2024).”</a:t>
            </a:r>
            <a:br>
              <a:rPr lang="en-US" dirty="0"/>
            </a:br>
            <a:r>
              <a:rPr lang="en-US" i="1" dirty="0"/>
              <a:t>Visual:</a:t>
            </a:r>
            <a:r>
              <a:rPr lang="en-US" dirty="0"/>
              <a:t> Chat mockup with policy citation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613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20711-9EEC-27EF-40FD-B4926F060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HR Analytics &amp; Reports Example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70BE31-CF54-858C-C083-361AED1F49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HR managers view: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 common employee queries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Department-wise sentiment analysis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Recruitment pipeline efficiency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data-driven decisions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proactive HR management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Analytics dashboard mockup</a:t>
            </a:r>
          </a:p>
        </p:txBody>
      </p:sp>
    </p:spTree>
    <p:extLst>
      <p:ext uri="{BB962C8B-B14F-4D97-AF65-F5344CB8AC3E}">
        <p14:creationId xmlns:p14="http://schemas.microsoft.com/office/powerpoint/2010/main" val="1154499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89A9A-44B6-76CC-BD28-3543D35FD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 &amp; Next Steps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2BD8EF-38E8-8661-82FD-641BE9260C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Phase 1: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Onboarding/offboarding + smart policy guidance.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Phase 2: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Recruitment module + performance/rewards assistant.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Phase 3: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Conversational multimodal interface.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Phase 4: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Advanced analytics, AI mentor, predictive insights.</a:t>
            </a:r>
          </a:p>
        </p:txBody>
      </p:sp>
    </p:spTree>
    <p:extLst>
      <p:ext uri="{BB962C8B-B14F-4D97-AF65-F5344CB8AC3E}">
        <p14:creationId xmlns:p14="http://schemas.microsoft.com/office/powerpoint/2010/main" val="3770035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35061-7CFE-D879-6E16-D8547E5D5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Proposition / Why HR RAG Bot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C489AE-8F99-80C3-DC8D-26C6295E6A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HR: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Automation, accurate insights, better recruitment &amp; process efficiency.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Employees/Candidates: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Faster answers, personalized experience, easier onboarding, and engagement.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Two-column icon grid (HR vs Employee)</a:t>
            </a:r>
          </a:p>
        </p:txBody>
      </p:sp>
    </p:spTree>
    <p:extLst>
      <p:ext uri="{BB962C8B-B14F-4D97-AF65-F5344CB8AC3E}">
        <p14:creationId xmlns:p14="http://schemas.microsoft.com/office/powerpoint/2010/main" val="2259429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E563CAE-06B9-5210-F1A6-6B4C607AB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777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</Words>
  <Application>Microsoft Office PowerPoint</Application>
  <PresentationFormat>Widescreen</PresentationFormat>
  <Paragraphs>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Intelligent HR BOT powered by Retrieval-Augmented Generation (RAG)</vt:lpstr>
      <vt:lpstr>Problem Statement</vt:lpstr>
      <vt:lpstr>Solution Overview</vt:lpstr>
      <vt:lpstr>Feature Classification</vt:lpstr>
      <vt:lpstr>HR Beneficial Features</vt:lpstr>
      <vt:lpstr>HR phone smart policy guidance.  </vt:lpstr>
      <vt:lpstr>Smart recruitment like smart resume selection module and HR phone BOT </vt:lpstr>
      <vt:lpstr>HR analytics module,  </vt:lpstr>
      <vt:lpstr>Employee &amp; Candidate Beneficial Features</vt:lpstr>
      <vt:lpstr>Smart Policy Guidance Example</vt:lpstr>
      <vt:lpstr>HR Analytics &amp; Reports Example</vt:lpstr>
      <vt:lpstr>Roadmap &amp; Next Steps</vt:lpstr>
      <vt:lpstr>Value Proposition / Why HR RAG Bot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Zate, Harshal</dc:creator>
  <cp:lastModifiedBy>Zate, Harshal</cp:lastModifiedBy>
  <cp:revision>6</cp:revision>
  <dcterms:created xsi:type="dcterms:W3CDTF">2025-11-03T07:19:03Z</dcterms:created>
  <dcterms:modified xsi:type="dcterms:W3CDTF">2025-11-04T12:50:28Z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0f5f9da-bb59-43e3-a7aa-358435e03557_Enabled">
    <vt:lpwstr>true</vt:lpwstr>
  </property>
  <property fmtid="{D5CDD505-2E9C-101B-9397-08002B2CF9AE}" pid="3" name="MSIP_Label_f0f5f9da-bb59-43e3-a7aa-358435e03557_SetDate">
    <vt:lpwstr>2025-11-03T07:36:39Z</vt:lpwstr>
  </property>
  <property fmtid="{D5CDD505-2E9C-101B-9397-08002B2CF9AE}" pid="4" name="MSIP_Label_f0f5f9da-bb59-43e3-a7aa-358435e03557_Method">
    <vt:lpwstr>Privileged</vt:lpwstr>
  </property>
  <property fmtid="{D5CDD505-2E9C-101B-9397-08002B2CF9AE}" pid="5" name="MSIP_Label_f0f5f9da-bb59-43e3-a7aa-358435e03557_Name">
    <vt:lpwstr>ERGO Internal</vt:lpwstr>
  </property>
  <property fmtid="{D5CDD505-2E9C-101B-9397-08002B2CF9AE}" pid="6" name="MSIP_Label_f0f5f9da-bb59-43e3-a7aa-358435e03557_SiteId">
    <vt:lpwstr>b81b1bcc-4864-4917-b597-9deb35336ab7</vt:lpwstr>
  </property>
  <property fmtid="{D5CDD505-2E9C-101B-9397-08002B2CF9AE}" pid="7" name="MSIP_Label_f0f5f9da-bb59-43e3-a7aa-358435e03557_ActionId">
    <vt:lpwstr>daf478b9-51f6-466e-9d90-f6cca9b3adcc</vt:lpwstr>
  </property>
  <property fmtid="{D5CDD505-2E9C-101B-9397-08002B2CF9AE}" pid="8" name="MSIP_Label_f0f5f9da-bb59-43e3-a7aa-358435e03557_ContentBits">
    <vt:lpwstr>0</vt:lpwstr>
  </property>
  <property fmtid="{D5CDD505-2E9C-101B-9397-08002B2CF9AE}" pid="9" name="MSIP_Label_f0f5f9da-bb59-43e3-a7aa-358435e03557_Tag">
    <vt:lpwstr>10, 0, 1, 1</vt:lpwstr>
  </property>
</Properties>
</file>