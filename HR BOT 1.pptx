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70" r:id="rId9"/>
    <p:sldId id="271" r:id="rId10"/>
    <p:sldId id="272" r:id="rId11"/>
    <p:sldId id="261" r:id="rId12"/>
    <p:sldId id="262" r:id="rId13"/>
    <p:sldId id="263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500A0-744D-3BA5-8650-94FB30930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4D99E-9E3F-9BE0-3A0C-A4C72B445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B00F2-F66B-8FFB-3A1F-274725CE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59E9A-466B-BFA4-0764-F9242CD8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556EE-54A5-D06D-6C3C-CE4EEB82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54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9BC8-AA0D-28A7-5E46-EAAB5FE4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1018C-7055-84C3-0D7B-B2D13B538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15587-5B8B-A09A-1750-72199198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0D4C3-19B4-A0D7-D8C5-1BA7123E9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6C86B-62FA-A8BD-F481-E4E8E7B9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6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E439-5980-CFF2-2AD9-5FD4C0226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35E6C-769B-B0C4-03C7-0FDF1EEBF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E7EEB-CA3C-0986-28C8-73E051B9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3A663-D5B4-587A-4BA5-F768417E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5E693-147F-3F59-CAF2-CE2A5442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7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44EF-837D-D08F-331C-26093C98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69FF1-3B36-50C4-67CD-667A111B5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F11E8-0349-A6E6-D961-FF2D23EBE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EB4F3-DCD7-2B02-181B-5C129E4B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FF00F-080A-F304-05B9-63B03C66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2D7DD-1555-FFCC-FED1-0B755EEA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3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7726-0F67-1EA5-24A7-C4E2AE40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2D7DB-C600-90AF-CC9A-99C3C1314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A6B64-D638-BD35-4AB3-7EEB035A1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2814A-07C0-C0AF-FF6A-F69CB8435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1C004-6F8D-4707-5C4D-DC5F16611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C6111-C1BA-EC22-2E74-FB271355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5552-746C-C849-4B52-157E97BB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F13A4-1CAD-DBA5-8F1A-AD1EB1CD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4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FDF0-F580-1534-D6F5-A977F061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02FE3-0BD7-725D-92C1-CB27A75E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020D8-869D-006D-FD7A-60E027D7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E55D1-C501-1B77-CEC1-C0E493C1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16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2B7A8-4776-5898-A9A2-6499E536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DF09B-01C3-2246-0A82-F33D18951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53380-16CC-4FA0-2BED-39EB7D00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101E-AABC-A04A-5D0E-3174E9B56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5E52C-CB8B-478F-E2A4-7F940C37F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6DA77-8B66-DE60-34C9-93DC5648D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FCB93-D072-3699-BC72-69EE71C7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87F82-130F-09C9-19A0-71D16A3B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F3369-612B-D1E0-9B40-82F79004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8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F144-99AE-312F-3FE8-8EB6C6EE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7047E-047B-5128-DE8D-E6323A1F5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E35F3-BE6E-028D-2FE0-17C37AE05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628C0-F790-4CDA-55E7-8E09D556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F9B4-D3C3-9700-0D68-68BF89DC1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49DC2-6512-8AE4-CDD5-F4B79186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9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3DBBA-97F3-381E-BAE6-0D0FC4C50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8EA01-3C12-6CC3-E01A-053C18D01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47AC8-B10D-1639-64F4-3876D6CD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C8DD1-2035-8267-0807-664E7AF2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A9B2C-C396-1B3E-909C-29748062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74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9B786F-37D2-F15C-285F-920CB00888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9CE4F-3A7D-C92A-6B41-059F9C56F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D2979-DC15-199E-A5DB-0DF9F8430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C3B32-2662-9465-B62E-16C174E0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0E5ED-275D-2CB4-FF62-207BB057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8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5D009-A8BD-8E9B-73F4-95284A4B0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6687E-6C80-A551-F214-9844AD83F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B1A3C-D5A2-3AC9-8C4F-79D2BC077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307C4-AC1B-3EE5-8E07-EA2A6165A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73DAA-3723-0D63-CE23-7752A317C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3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58EA-151B-BF98-21AC-5BA74B5B9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HR BOT – Intelligent Human Resource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452A1-C504-D17A-49EA-83E10EEF9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Automating HR Queries, Hiring, and Analytics through AI</a:t>
            </a:r>
          </a:p>
        </p:txBody>
      </p:sp>
    </p:spTree>
    <p:extLst>
      <p:ext uri="{BB962C8B-B14F-4D97-AF65-F5344CB8AC3E}">
        <p14:creationId xmlns:p14="http://schemas.microsoft.com/office/powerpoint/2010/main" val="3436898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5376-2CB9-EC60-D726-01C4BB9D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Problem Statement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C23C994-7EE5-A378-B52B-E4698C69FD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7907" y="2376170"/>
            <a:ext cx="10361041" cy="1181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HR teams spend a major portion of their time addressing </a:t>
            </a:r>
            <a:r>
              <a:rPr lang="en-US" sz="2000" b="1" dirty="0"/>
              <a:t>repetitive employee queries</a:t>
            </a:r>
            <a:r>
              <a:rPr lang="en-US" sz="2000" dirty="0"/>
              <a:t>.</a:t>
            </a:r>
          </a:p>
          <a:p>
            <a:r>
              <a:rPr lang="en-US" sz="2000" b="1" dirty="0"/>
              <a:t>Manual resume screening</a:t>
            </a:r>
            <a:r>
              <a:rPr lang="en-US" sz="2000" dirty="0"/>
              <a:t> and telephonic interviews are time-consuming and subjective.</a:t>
            </a:r>
          </a:p>
          <a:p>
            <a:r>
              <a:rPr lang="en-US" sz="2000" dirty="0"/>
              <a:t>There’s a </a:t>
            </a:r>
            <a:r>
              <a:rPr lang="en-US" sz="2000" b="1" dirty="0"/>
              <a:t>lack of integrated, real-time analytics</a:t>
            </a:r>
            <a:r>
              <a:rPr lang="en-US" sz="2000" dirty="0"/>
              <a:t> on employee interactions and sentiment.</a:t>
            </a:r>
          </a:p>
        </p:txBody>
      </p:sp>
    </p:spTree>
    <p:extLst>
      <p:ext uri="{BB962C8B-B14F-4D97-AF65-F5344CB8AC3E}">
        <p14:creationId xmlns:p14="http://schemas.microsoft.com/office/powerpoint/2010/main" val="4006717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7EE6-90E0-39B6-084D-B3170D30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Overview – HR 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8A8F9-1344-294D-53C8-8FE133498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AI-powered HR ecosystem</a:t>
            </a:r>
            <a:r>
              <a:rPr lang="en-US" dirty="0"/>
              <a:t> with 3 integrated modules:</a:t>
            </a:r>
          </a:p>
          <a:p>
            <a:r>
              <a:rPr lang="en-US" dirty="0"/>
              <a:t>🤖 </a:t>
            </a:r>
            <a:r>
              <a:rPr lang="en-US" b="1" dirty="0"/>
              <a:t>HR Chatbot</a:t>
            </a:r>
            <a:r>
              <a:rPr lang="en-US" dirty="0"/>
              <a:t> – Handles employee HR queries automatically.</a:t>
            </a:r>
          </a:p>
          <a:p>
            <a:r>
              <a:rPr lang="en-US" dirty="0"/>
              <a:t>💼 </a:t>
            </a:r>
            <a:r>
              <a:rPr lang="en-US" b="1" dirty="0"/>
              <a:t>HR Hiring Assistant</a:t>
            </a:r>
            <a:r>
              <a:rPr lang="en-US" dirty="0"/>
              <a:t> – Intelligent resume filter + Telephonic interview bot.</a:t>
            </a:r>
          </a:p>
          <a:p>
            <a:r>
              <a:rPr lang="en-US" dirty="0"/>
              <a:t>📊 </a:t>
            </a:r>
            <a:r>
              <a:rPr lang="en-US" b="1" dirty="0"/>
              <a:t>HR Analytics Module</a:t>
            </a:r>
            <a:r>
              <a:rPr lang="en-US" dirty="0"/>
              <a:t> – Real-time HR performance &amp; sentiment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86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57D5-CB6D-4B1D-870E-16DF04FD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 – HR Chatbot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D7C7E-3D0E-B5F4-15FF-429C1B736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Purpose:</a:t>
            </a:r>
            <a:endParaRPr lang="en-US" dirty="0"/>
          </a:p>
          <a:p>
            <a:r>
              <a:rPr lang="en-US" dirty="0"/>
              <a:t>Single point of contact for all HR-related queries.</a:t>
            </a:r>
          </a:p>
          <a:p>
            <a:r>
              <a:rPr lang="en-US" dirty="0"/>
              <a:t>Provides </a:t>
            </a:r>
            <a:r>
              <a:rPr lang="en-US" b="1" dirty="0"/>
              <a:t>accurate, real-time responses</a:t>
            </a:r>
            <a:r>
              <a:rPr lang="en-US" dirty="0"/>
              <a:t> from internal HR documents &amp; systems.</a:t>
            </a:r>
          </a:p>
          <a:p>
            <a:r>
              <a:rPr lang="en-US" dirty="0"/>
              <a:t>Reduces HR workload &amp; escalations.</a:t>
            </a:r>
          </a:p>
          <a:p>
            <a:r>
              <a:rPr lang="en-US" dirty="0"/>
              <a:t>Integrates with analytics, ticketing, and notification systems.</a:t>
            </a:r>
          </a:p>
        </p:txBody>
      </p:sp>
    </p:spTree>
    <p:extLst>
      <p:ext uri="{BB962C8B-B14F-4D97-AF65-F5344CB8AC3E}">
        <p14:creationId xmlns:p14="http://schemas.microsoft.com/office/powerpoint/2010/main" val="2917003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CB70-3159-18CA-D18D-1ECDD6BF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HR Chatbot – Functional Areas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76B933-3FA7-00E8-D181-FA2BCC14A9A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43894"/>
          <a:ext cx="10515600" cy="411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333878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58393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Category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 Queries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159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Payroll &amp; Compensation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“When is my salary credited?” “Show my payslip.”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82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Leave &amp; 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“How many leaves do I have?” “Apply for sick leave.”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849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Policies &amp;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“What’s the remote work policy?” “Maternity leave details?”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36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Benefits &amp; Insurance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“How do I claim medical insurance?”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08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Recruitment &amp; Transfers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“How to refer a candidate?”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940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Performance &amp; Appraisals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“When is my appraisal cycle?”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819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Training &amp;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“Available training programs?”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481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Exit &amp; Resignation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“Notice period details?” “Final settlement process?”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3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47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2792-73DD-C449-BE14-40EF9E95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Module 2 – HR Hiring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9930-9DE9-31E6-94AA-940D79E6A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269" y="1420891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Two submodules enabling end-to-end hiring automation:</a:t>
            </a:r>
          </a:p>
          <a:p>
            <a:r>
              <a:rPr lang="en-US" b="1" dirty="0"/>
              <a:t>2.1 Resume Filtering System</a:t>
            </a:r>
          </a:p>
          <a:p>
            <a:r>
              <a:rPr lang="en-US" dirty="0"/>
              <a:t>Combines </a:t>
            </a:r>
            <a:r>
              <a:rPr lang="en-US" b="1" dirty="0"/>
              <a:t>LLM Semantic Model</a:t>
            </a:r>
            <a:r>
              <a:rPr lang="en-US" dirty="0"/>
              <a:t> (for JD–resume match &amp; experience relevance)</a:t>
            </a:r>
          </a:p>
          <a:p>
            <a:r>
              <a:rPr lang="en-US" dirty="0"/>
              <a:t>With </a:t>
            </a:r>
            <a:r>
              <a:rPr lang="en-US" b="1" dirty="0"/>
              <a:t>NER Model</a:t>
            </a:r>
            <a:r>
              <a:rPr lang="en-US" dirty="0"/>
              <a:t> (to extract skills, experience, education, roles).</a:t>
            </a:r>
          </a:p>
          <a:p>
            <a:r>
              <a:rPr lang="en-US" dirty="0"/>
              <a:t>Generates a </a:t>
            </a:r>
            <a:r>
              <a:rPr lang="en-US" b="1" dirty="0"/>
              <a:t>final candidate match score</a:t>
            </a:r>
            <a:r>
              <a:rPr lang="en-US" dirty="0"/>
              <a:t> for shortlist decisions.</a:t>
            </a:r>
          </a:p>
          <a:p>
            <a:r>
              <a:rPr lang="en-US" b="1" dirty="0"/>
              <a:t>2.2 HR Telephony Bot</a:t>
            </a:r>
          </a:p>
          <a:p>
            <a:r>
              <a:rPr lang="en-US" dirty="0"/>
              <a:t>Automatically extracts phone number from resume.</a:t>
            </a:r>
          </a:p>
          <a:p>
            <a:r>
              <a:rPr lang="en-US" dirty="0"/>
              <a:t>Conducts </a:t>
            </a:r>
            <a:r>
              <a:rPr lang="en-US" b="1" dirty="0"/>
              <a:t>AI-driven telephonic interviews</a:t>
            </a:r>
            <a:r>
              <a:rPr lang="en-US" dirty="0"/>
              <a:t> with dynamic question generation.</a:t>
            </a:r>
          </a:p>
          <a:p>
            <a:r>
              <a:rPr lang="en-US" dirty="0"/>
              <a:t>Evaluates candidate on </a:t>
            </a:r>
            <a:r>
              <a:rPr lang="en-US" b="1" dirty="0"/>
              <a:t>fluency, technical responses, confidence metrics</a:t>
            </a:r>
            <a:r>
              <a:rPr lang="en-US" dirty="0"/>
              <a:t>.</a:t>
            </a:r>
          </a:p>
          <a:p>
            <a:r>
              <a:rPr lang="en-US" dirty="0"/>
              <a:t>Final output: </a:t>
            </a:r>
            <a:r>
              <a:rPr lang="en-US" i="1" dirty="0"/>
              <a:t>“Select” / “Hold” / “Reject”</a:t>
            </a:r>
            <a:r>
              <a:rPr lang="en-US" dirty="0"/>
              <a:t> decision.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40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CCFE-1F2E-5137-784D-099E4B88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Module 3 – HR Analytics Dashboard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7EF109-EDF9-FE94-0AC5-184B17FEC6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481920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714087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Metric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535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Resolution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 of queries resolved without escalation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013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Avg. Response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Average time to respond to queries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7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Sentiment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Employee sentiment from chat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366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Escalation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 of queries requiring human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9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Employee Satisfaction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Derived from feedback &amp; sentiment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590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 5 Query Topics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Most frequent HR queries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133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Confusion/Failure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Queries the bot failed to understand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526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Attrition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ML-based model using payroll + chat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706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683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5AB8-CADE-1235-DF82-A2336181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A966-5990-BD99-C999-D54AA607F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21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Understand employee mood and engagement level through chat tone and context.</a:t>
            </a:r>
          </a:p>
          <a:p>
            <a:r>
              <a:rPr lang="en-US" b="1" dirty="0"/>
              <a:t>Approach:</a:t>
            </a:r>
            <a:endParaRPr lang="en-US" dirty="0"/>
          </a:p>
          <a:p>
            <a:r>
              <a:rPr lang="en-US" dirty="0"/>
              <a:t>Option A: Use </a:t>
            </a:r>
            <a:r>
              <a:rPr lang="en-US" b="1" dirty="0"/>
              <a:t>LLM-based contextual sentiment detection</a:t>
            </a:r>
            <a:r>
              <a:rPr lang="en-US" dirty="0"/>
              <a:t> for nuanced understanding.</a:t>
            </a:r>
          </a:p>
          <a:p>
            <a:r>
              <a:rPr lang="en-US" dirty="0"/>
              <a:t>Option B: Use a </a:t>
            </a:r>
            <a:r>
              <a:rPr lang="en-US" b="1" dirty="0"/>
              <a:t>fine-tuned Sentiment Classification Model</a:t>
            </a:r>
            <a:r>
              <a:rPr lang="en-US" dirty="0"/>
              <a:t> (trained on HR chat data).</a:t>
            </a:r>
          </a:p>
          <a:p>
            <a:r>
              <a:rPr lang="en-US" dirty="0"/>
              <a:t>Output: Sentiment Score (Positive / Neutral / Negative) for each conversation.</a:t>
            </a:r>
          </a:p>
          <a:p>
            <a:r>
              <a:rPr lang="en-US" dirty="0"/>
              <a:t>Aggregation:</a:t>
            </a:r>
          </a:p>
          <a:p>
            <a:pPr lvl="1"/>
            <a:r>
              <a:rPr lang="en-US" b="1" dirty="0"/>
              <a:t>Daily sentiment trend</a:t>
            </a:r>
            <a:r>
              <a:rPr lang="en-US" dirty="0"/>
              <a:t> (team or department level).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486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E46C-7849-4FC3-F569-8F5F0118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Attrition Risk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DAF0F-B453-C8C2-B695-438F7D7A0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the probability of employee exit. </a:t>
            </a:r>
          </a:p>
          <a:p>
            <a:r>
              <a:rPr lang="en-US" b="1" dirty="0"/>
              <a:t>Data Inputs:</a:t>
            </a:r>
            <a:endParaRPr lang="en-US" dirty="0"/>
          </a:p>
          <a:p>
            <a:r>
              <a:rPr lang="en-US" dirty="0"/>
              <a:t>Historical HR data (tenure, role changes, performance ratings).</a:t>
            </a:r>
          </a:p>
          <a:p>
            <a:r>
              <a:rPr lang="en-US" dirty="0"/>
              <a:t>Payroll patterns (salary hikes, incentives, pay anomalies).</a:t>
            </a:r>
          </a:p>
          <a:p>
            <a:r>
              <a:rPr lang="en-US" dirty="0"/>
              <a:t>Skill profile (growth stagnation, mismatch with role).</a:t>
            </a:r>
          </a:p>
          <a:p>
            <a:r>
              <a:rPr lang="en-US" dirty="0"/>
              <a:t>Engagement metrics (training participation, internal mobility).</a:t>
            </a:r>
          </a:p>
          <a:p>
            <a:r>
              <a:rPr lang="en-US" b="1" dirty="0"/>
              <a:t>Chatbot behavioral indicators</a:t>
            </a:r>
            <a:r>
              <a:rPr lang="en-US" dirty="0"/>
              <a:t> (frequent negative sentiment, resignation-related queries).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964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A9DD9-C493-47D1-E98A-251F3BBDC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308" y="1253331"/>
            <a:ext cx="10515600" cy="4351338"/>
          </a:xfrm>
        </p:spPr>
        <p:txBody>
          <a:bodyPr/>
          <a:lstStyle/>
          <a:p>
            <a:r>
              <a:rPr lang="en-US" b="1" dirty="0"/>
              <a:t>Model Workflow:</a:t>
            </a:r>
            <a:endParaRPr lang="en-US" dirty="0"/>
          </a:p>
          <a:p>
            <a:r>
              <a:rPr lang="en-US" b="1" dirty="0"/>
              <a:t>Baseline ML Model:</a:t>
            </a:r>
            <a:r>
              <a:rPr lang="en-US" dirty="0"/>
              <a:t> Uses HR &amp; payroll data (e.g., Random Forest /</a:t>
            </a:r>
            <a:r>
              <a:rPr lang="en-US" dirty="0" err="1"/>
              <a:t>XGBoost</a:t>
            </a:r>
            <a:r>
              <a:rPr lang="en-US" dirty="0"/>
              <a:t>).</a:t>
            </a:r>
          </a:p>
          <a:p>
            <a:r>
              <a:rPr lang="en-US" b="1" dirty="0"/>
              <a:t>Trigger Layer:</a:t>
            </a:r>
            <a:r>
              <a:rPr lang="en-US" dirty="0"/>
              <a:t> Uses chatbot data to adjust risk dynamically.</a:t>
            </a:r>
          </a:p>
          <a:p>
            <a:r>
              <a:rPr lang="en-US" b="1" dirty="0"/>
              <a:t>Output:</a:t>
            </a:r>
            <a:endParaRPr lang="en-US" dirty="0"/>
          </a:p>
          <a:p>
            <a:pPr lvl="1"/>
            <a:r>
              <a:rPr lang="en-US" dirty="0"/>
              <a:t>Individual </a:t>
            </a:r>
            <a:r>
              <a:rPr lang="en-US" b="1" dirty="0"/>
              <a:t>Attrition Risk Score (%)</a:t>
            </a:r>
            <a:endParaRPr lang="en-US" dirty="0"/>
          </a:p>
          <a:p>
            <a:pPr lvl="1"/>
            <a:r>
              <a:rPr lang="en-US" b="1" dirty="0"/>
              <a:t>Team/Department Attrition Trends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53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066FB-35F2-4B35-78A5-D782BC45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Technology Stack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9B2B3B-6221-F091-78F0-A9C5C58EF6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7141" y="1874728"/>
            <a:ext cx="1142485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 Models: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ChatOpenAI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NER, Hugging Face Transformers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Twilio, Google Speech-to-Text &amp; Text-to-Speech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PostgreSQL / MongoDB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EC2</a:t>
            </a:r>
          </a:p>
        </p:txBody>
      </p:sp>
    </p:spTree>
    <p:extLst>
      <p:ext uri="{BB962C8B-B14F-4D97-AF65-F5344CB8AC3E}">
        <p14:creationId xmlns:p14="http://schemas.microsoft.com/office/powerpoint/2010/main" val="2091760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95EE-F47E-6122-596D-453429AC2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A8C04-7FF1-6D3B-1FAF-867D75637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(Add a flow diagram)</a:t>
            </a:r>
            <a:br>
              <a:rPr lang="en-US" dirty="0"/>
            </a:br>
            <a:r>
              <a:rPr lang="en-US" b="1" dirty="0"/>
              <a:t>Flow:</a:t>
            </a:r>
            <a:br>
              <a:rPr lang="en-US" dirty="0"/>
            </a:br>
            <a:r>
              <a:rPr lang="en-US" dirty="0"/>
              <a:t>Employee → HR Chatbot → LLM Retrieval → Response / Escalation</a:t>
            </a:r>
            <a:br>
              <a:rPr lang="en-US" dirty="0"/>
            </a:br>
            <a:r>
              <a:rPr lang="en-US" dirty="0"/>
              <a:t>Recruiter → Resume Upload → Filtering (LLM + NER) → Phone Bot →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4020613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0711-9EEC-27EF-40FD-B4926F06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70BE31-CF54-858C-C083-361AED1F49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5373" y="1690688"/>
            <a:ext cx="510062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✅ Reduction in HR workload</a:t>
            </a:r>
            <a:br>
              <a:rPr lang="en-US" sz="1800" dirty="0"/>
            </a:br>
            <a:r>
              <a:rPr lang="en-US" sz="1800" dirty="0"/>
              <a:t>✅ Faster &amp; unbiased candidate screening</a:t>
            </a:r>
            <a:br>
              <a:rPr lang="en-US" sz="1800" dirty="0"/>
            </a:br>
            <a:r>
              <a:rPr lang="en-US" sz="1800" dirty="0"/>
              <a:t>✅ 24/7 HR support availability</a:t>
            </a:r>
            <a:br>
              <a:rPr lang="en-US" sz="1800" dirty="0"/>
            </a:br>
            <a:r>
              <a:rPr lang="en-US" sz="1800" dirty="0"/>
              <a:t>✅ Data-driven decision-making</a:t>
            </a:r>
            <a:br>
              <a:rPr lang="en-US" sz="1800" dirty="0"/>
            </a:br>
            <a:r>
              <a:rPr lang="en-US" sz="1800" dirty="0"/>
              <a:t>✅ Improved employee satisfaction and retention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499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563CAE-06B9-5210-F1A6-6B4C607AB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17777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HR BOT – Intelligent Human Resource Assistant</vt:lpstr>
      <vt:lpstr>Problem Statement</vt:lpstr>
      <vt:lpstr>Solution Overview – HR BOT</vt:lpstr>
      <vt:lpstr>Module 1 – HR Chatbot</vt:lpstr>
      <vt:lpstr>HR Chatbot – Functional Areas</vt:lpstr>
      <vt:lpstr>Module 2 – HR Hiring Assistant</vt:lpstr>
      <vt:lpstr>Module 3 – HR Analytics Dashboard </vt:lpstr>
      <vt:lpstr>Sentiment Analysis Engine</vt:lpstr>
      <vt:lpstr>Attrition Risk Prediction Model</vt:lpstr>
      <vt:lpstr>PowerPoint Presentation</vt:lpstr>
      <vt:lpstr>Technology Stack</vt:lpstr>
      <vt:lpstr>Architecture Overview</vt:lpstr>
      <vt:lpstr>Key Benefits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Zate, Harshal</dc:creator>
  <cp:lastModifiedBy>Zate, Harshal</cp:lastModifiedBy>
  <cp:revision>10</cp:revision>
  <dcterms:created xsi:type="dcterms:W3CDTF">2025-11-03T07:19:03Z</dcterms:created>
  <dcterms:modified xsi:type="dcterms:W3CDTF">2025-11-07T04:17:51Z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0f5f9da-bb59-43e3-a7aa-358435e03557_Enabled">
    <vt:lpwstr>true</vt:lpwstr>
  </property>
  <property fmtid="{D5CDD505-2E9C-101B-9397-08002B2CF9AE}" pid="3" name="MSIP_Label_f0f5f9da-bb59-43e3-a7aa-358435e03557_SetDate">
    <vt:lpwstr>2025-11-03T07:36:39Z</vt:lpwstr>
  </property>
  <property fmtid="{D5CDD505-2E9C-101B-9397-08002B2CF9AE}" pid="4" name="MSIP_Label_f0f5f9da-bb59-43e3-a7aa-358435e03557_Method">
    <vt:lpwstr>Privileged</vt:lpwstr>
  </property>
  <property fmtid="{D5CDD505-2E9C-101B-9397-08002B2CF9AE}" pid="5" name="MSIP_Label_f0f5f9da-bb59-43e3-a7aa-358435e03557_Name">
    <vt:lpwstr>ERGO Internal</vt:lpwstr>
  </property>
  <property fmtid="{D5CDD505-2E9C-101B-9397-08002B2CF9AE}" pid="6" name="MSIP_Label_f0f5f9da-bb59-43e3-a7aa-358435e03557_SiteId">
    <vt:lpwstr>b81b1bcc-4864-4917-b597-9deb35336ab7</vt:lpwstr>
  </property>
  <property fmtid="{D5CDD505-2E9C-101B-9397-08002B2CF9AE}" pid="7" name="MSIP_Label_f0f5f9da-bb59-43e3-a7aa-358435e03557_ActionId">
    <vt:lpwstr>daf478b9-51f6-466e-9d90-f6cca9b3adcc</vt:lpwstr>
  </property>
  <property fmtid="{D5CDD505-2E9C-101B-9397-08002B2CF9AE}" pid="8" name="MSIP_Label_f0f5f9da-bb59-43e3-a7aa-358435e03557_ContentBits">
    <vt:lpwstr>0</vt:lpwstr>
  </property>
  <property fmtid="{D5CDD505-2E9C-101B-9397-08002B2CF9AE}" pid="9" name="MSIP_Label_f0f5f9da-bb59-43e3-a7aa-358435e03557_Tag">
    <vt:lpwstr>10, 0, 1, 1</vt:lpwstr>
  </property>
</Properties>
</file>